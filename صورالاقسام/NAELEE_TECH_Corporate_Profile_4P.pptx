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1183112" cy="109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929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94360"/>
            <a:ext cx="5074920" cy="5349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92240" y="594360"/>
            <a:ext cx="5074920" cy="534924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21792"/>
            <a:ext cx="50292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300" b="1">
                <a:solidFill>
                  <a:srgbClr val="F5D98F"/>
                </a:solidFill>
                <a:latin typeface="Cormorant Garamond"/>
              </a:rPr>
              <a:t>NAELEE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078992"/>
            <a:ext cx="18288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Aptos"/>
              </a:rPr>
              <a:t>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72768"/>
            <a:ext cx="36576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2"/>
                </a:solidFill>
                <a:latin typeface="Aptos"/>
              </a:rPr>
              <a:t>NEW AIR EGYPT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93392"/>
            <a:ext cx="53035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ormorant Garamond"/>
              </a:rPr>
              <a:t>LUXURY ENGINEERING EXCELLENCE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441448"/>
            <a:ext cx="5120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F5F2"/>
                </a:solidFill>
                <a:latin typeface="Aptos"/>
              </a:rPr>
              <a:t>MEP SOLUTIONS FOR VIP 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63240"/>
            <a:ext cx="4983480" cy="932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6A6A6"/>
                </a:solidFill>
                <a:latin typeface="Aptos"/>
              </a:rPr>
              <a:t>NAELEE TECH delivers integrated engineering, HVAC, refrigeration, marine climate and luxury design solutions for demanding residential, commercial, industrial and marine environments.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5074920" cy="1508760"/>
          </a:xfrm>
          <a:prstGeom prst="roundRect">
            <a:avLst/>
          </a:prstGeom>
          <a:solidFill>
            <a:srgbClr val="0A0A0A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62272"/>
            <a:ext cx="23774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Aptos"/>
              </a:rPr>
              <a:t>OUR CORE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2331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0">
                <a:solidFill>
                  <a:srgbClr val="F5F5F2"/>
                </a:solidFill>
                <a:latin typeface="Aptos"/>
              </a:rPr>
              <a:t>• Luxury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84064"/>
            <a:ext cx="2331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0">
                <a:solidFill>
                  <a:srgbClr val="F5F5F2"/>
                </a:solidFill>
                <a:latin typeface="Aptos"/>
              </a:rPr>
              <a:t>• HVAC &amp; Air Treatment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7528"/>
            <a:ext cx="2331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0">
                <a:solidFill>
                  <a:srgbClr val="F5F5F2"/>
                </a:solidFill>
                <a:latin typeface="Aptos"/>
              </a:rPr>
              <a:t>• Marine Air Conditioning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4800600"/>
            <a:ext cx="2331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0">
                <a:solidFill>
                  <a:srgbClr val="F5F5F2"/>
                </a:solidFill>
                <a:latin typeface="Aptos"/>
              </a:rPr>
              <a:t>• Refrigeration Solutions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5084064"/>
            <a:ext cx="2331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0">
                <a:solidFill>
                  <a:srgbClr val="F5F5F2"/>
                </a:solidFill>
                <a:latin typeface="Aptos"/>
              </a:rPr>
              <a:t>• Luxury Interior &amp; Architectural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5367528"/>
            <a:ext cx="2331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0">
                <a:solidFill>
                  <a:srgbClr val="F5F5F2"/>
                </a:solidFill>
                <a:latin typeface="Aptos"/>
              </a:rPr>
              <a:t>• MEP Contracting &amp; Construction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A6A6A6"/>
                </a:solidFill>
                <a:latin typeface="Aptos"/>
              </a:rPr>
              <a:t>NAELEE TECH  |  NEW AIR EGYPT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00" b="1">
                <a:solidFill>
                  <a:srgbClr val="D4AF37"/>
                </a:solidFill>
                <a:latin typeface="Aptos"/>
              </a:rP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1183112" cy="109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66928"/>
            <a:ext cx="8229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D4AF37"/>
                </a:solidFill>
                <a:latin typeface="Cormorant Garamond"/>
              </a:rPr>
              <a:t>ENGINEERING &amp; LUXURY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97280"/>
            <a:ext cx="960120" cy="1645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787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3657600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234440"/>
            <a:ext cx="3657600" cy="20574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rop_9715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234440"/>
            <a:ext cx="3611880" cy="2057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01000" y="1234440"/>
            <a:ext cx="3611880" cy="20574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93268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5F2"/>
                </a:solidFill>
                <a:latin typeface="Cormorant Garamond"/>
              </a:rPr>
              <a:t>ENGINEERING AIR TREATMENT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25296"/>
            <a:ext cx="2011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D4AF37"/>
                </a:solidFill>
                <a:latin typeface="Aptos"/>
              </a:rPr>
              <a:t>NEW AIR EGYPT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01568"/>
            <a:ext cx="37033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80" b="0">
                <a:solidFill>
                  <a:srgbClr val="A6A6A6"/>
                </a:solidFill>
                <a:latin typeface="Aptos"/>
              </a:rPr>
              <a:t>Precision climate engineering for residential, commercial and industrial environments, with system selection based on building use, capacity, comfort requirements and operating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160520"/>
            <a:ext cx="3794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80">
                <a:solidFill>
                  <a:srgbClr val="F5F5F2"/>
                </a:solidFill>
                <a:latin typeface="Aptos"/>
              </a:defRPr>
            </a:pPr>
            <a:r>
              <a:t>• Split, concealed and ducted systems for villas and palaces.</a:t>
            </a:r>
          </a:p>
          <a:p>
            <a:pPr>
              <a:spcAft>
                <a:spcPts val="400"/>
              </a:spcAft>
              <a:defRPr sz="780">
                <a:solidFill>
                  <a:srgbClr val="F5F5F2"/>
                </a:solidFill>
                <a:latin typeface="Aptos"/>
              </a:defRPr>
            </a:pPr>
            <a:r>
              <a:t>• Commercial central AC and ventilation solutions.</a:t>
            </a:r>
          </a:p>
          <a:p>
            <a:pPr>
              <a:spcAft>
                <a:spcPts val="400"/>
              </a:spcAft>
              <a:defRPr sz="780">
                <a:solidFill>
                  <a:srgbClr val="F5F5F2"/>
                </a:solidFill>
                <a:latin typeface="Aptos"/>
              </a:defRPr>
            </a:pPr>
            <a:r>
              <a:t>• Central AC systems for large facilities.</a:t>
            </a:r>
          </a:p>
          <a:p>
            <a:pPr>
              <a:spcAft>
                <a:spcPts val="400"/>
              </a:spcAft>
              <a:defRPr sz="780">
                <a:solidFill>
                  <a:srgbClr val="F5F5F2"/>
                </a:solidFill>
                <a:latin typeface="Aptos"/>
              </a:defRPr>
            </a:pPr>
            <a:r>
              <a:t>• Ventilation and fire-fighting integration.</a:t>
            </a:r>
          </a:p>
          <a:p>
            <a:pPr>
              <a:spcAft>
                <a:spcPts val="400"/>
              </a:spcAft>
              <a:defRPr sz="780">
                <a:solidFill>
                  <a:srgbClr val="F5F5F2"/>
                </a:solidFill>
                <a:latin typeface="Aptos"/>
              </a:defRPr>
            </a:pPr>
            <a:r>
              <a:t>• Industrial HVAC, humidification and air treatment.</a:t>
            </a:r>
          </a:p>
          <a:p>
            <a:pPr>
              <a:spcAft>
                <a:spcPts val="400"/>
              </a:spcAft>
              <a:defRPr sz="780">
                <a:solidFill>
                  <a:srgbClr val="F5F5F2"/>
                </a:solidFill>
                <a:latin typeface="Aptos"/>
              </a:defRPr>
            </a:pPr>
            <a:r>
              <a:t>• Cold rooms, cooling, freezing and processing.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611880"/>
            <a:ext cx="1225296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579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3671316"/>
            <a:ext cx="115214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5791B0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1304" y="3685032"/>
            <a:ext cx="164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4AF37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25896" y="3611880"/>
            <a:ext cx="1225296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579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2472" y="3671316"/>
            <a:ext cx="115214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5791B0"/>
                </a:solidFill>
                <a:latin typeface="Aptos"/>
              </a:rPr>
              <a:t>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685032"/>
            <a:ext cx="164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4AF37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34071" y="3611880"/>
            <a:ext cx="1225296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579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7" y="3671316"/>
            <a:ext cx="115214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5791B0"/>
                </a:solidFill>
                <a:latin typeface="Aptos"/>
              </a:rPr>
              <a:t>INSTALLATION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7655" y="3685032"/>
            <a:ext cx="164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4AF37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42248" y="3611880"/>
            <a:ext cx="1225296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579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78824" y="3671316"/>
            <a:ext cx="115214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5791B0"/>
                </a:solidFill>
                <a:latin typeface="Aptos"/>
              </a:rPr>
              <a:t>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5832" y="3685032"/>
            <a:ext cx="164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4AF37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50424" y="3611880"/>
            <a:ext cx="1225296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579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3671316"/>
            <a:ext cx="115214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5791B0"/>
                </a:solidFill>
                <a:latin typeface="Aptos"/>
              </a:rPr>
              <a:t>COMMISSIONING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401568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5F2"/>
                </a:solidFill>
                <a:latin typeface="Cormorant Garamond"/>
              </a:rPr>
              <a:t>NEW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703320"/>
            <a:ext cx="2743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68976E"/>
                </a:solidFill>
                <a:latin typeface="Aptos"/>
              </a:rPr>
              <a:t>LUXURY NATURE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005072"/>
            <a:ext cx="34747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9" b="0">
                <a:solidFill>
                  <a:srgbClr val="A6A6A6"/>
                </a:solidFill>
                <a:latin typeface="Aptos"/>
              </a:rPr>
              <a:t>Luxury Nature combines engineering performance with biophilic design principles, integrating climate systems into architecture rather than treating them as an afterthought.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892040"/>
            <a:ext cx="33832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60">
                <a:solidFill>
                  <a:srgbClr val="F5F5F2"/>
                </a:solidFill>
                <a:latin typeface="Aptos"/>
              </a:defRPr>
            </a:pPr>
            <a:r>
              <a:t>• Biophilic design</a:t>
            </a:r>
          </a:p>
          <a:p>
            <a:pPr>
              <a:spcAft>
                <a:spcPts val="400"/>
              </a:spcAft>
              <a:defRPr sz="760">
                <a:solidFill>
                  <a:srgbClr val="F5F5F2"/>
                </a:solidFill>
                <a:latin typeface="Aptos"/>
              </a:defRPr>
            </a:pPr>
            <a:r>
              <a:t>• Luxury interiors</a:t>
            </a:r>
          </a:p>
          <a:p>
            <a:pPr>
              <a:spcAft>
                <a:spcPts val="400"/>
              </a:spcAft>
              <a:defRPr sz="760">
                <a:solidFill>
                  <a:srgbClr val="F5F5F2"/>
                </a:solidFill>
                <a:latin typeface="Aptos"/>
              </a:defRPr>
            </a:pPr>
            <a:r>
              <a:t>• Architectural integration</a:t>
            </a:r>
          </a:p>
          <a:p>
            <a:pPr>
              <a:spcAft>
                <a:spcPts val="400"/>
              </a:spcAft>
              <a:defRPr sz="760">
                <a:solidFill>
                  <a:srgbClr val="F5F5F2"/>
                </a:solidFill>
                <a:latin typeface="Aptos"/>
              </a:defRPr>
            </a:pPr>
            <a:r>
              <a:t>• Premium HVAC</a:t>
            </a:r>
          </a:p>
          <a:p>
            <a:pPr>
              <a:spcAft>
                <a:spcPts val="400"/>
              </a:spcAft>
              <a:defRPr sz="760">
                <a:solidFill>
                  <a:srgbClr val="F5F5F2"/>
                </a:solidFill>
                <a:latin typeface="Aptos"/>
              </a:defRPr>
            </a:pPr>
            <a:r>
              <a:t>• Sustainable luxury</a:t>
            </a:r>
          </a:p>
          <a:p>
            <a:pPr>
              <a:spcAft>
                <a:spcPts val="400"/>
              </a:spcAft>
              <a:defRPr sz="760">
                <a:solidFill>
                  <a:srgbClr val="F5F5F2"/>
                </a:solidFill>
                <a:latin typeface="Aptos"/>
              </a:defRPr>
            </a:pPr>
            <a:r>
              <a:t>• Quiet and visually integrated systems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A6A6A6"/>
                </a:solidFill>
                <a:latin typeface="Aptos"/>
              </a:rPr>
              <a:t>NAELEE TECH  |  NEW AIR EGYPT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00" b="1">
                <a:solidFill>
                  <a:srgbClr val="D4AF37"/>
                </a:solidFill>
                <a:latin typeface="Aptos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1183112" cy="109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66928"/>
            <a:ext cx="8229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D4AF37"/>
                </a:solidFill>
                <a:latin typeface="Cormorant Garamond"/>
              </a:rPr>
              <a:t>MARINE ENGINEERING &amp; HVAC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97280"/>
            <a:ext cx="960120" cy="1645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5532120" cy="4800600"/>
          </a:xfrm>
          <a:prstGeom prst="rect">
            <a:avLst/>
          </a:prstGeom>
          <a:solidFill>
            <a:srgbClr val="07141B"/>
          </a:solidFill>
          <a:ln>
            <a:solidFill>
              <a:srgbClr val="41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5074920" cy="13716"/>
          </a:xfrm>
          <a:prstGeom prst="rect">
            <a:avLst/>
          </a:prstGeom>
          <a:solidFill>
            <a:srgbClr val="579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148840"/>
            <a:ext cx="5074920" cy="13716"/>
          </a:xfrm>
          <a:prstGeom prst="rect">
            <a:avLst/>
          </a:prstGeom>
          <a:solidFill>
            <a:srgbClr val="579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68880"/>
            <a:ext cx="5074920" cy="13716"/>
          </a:xfrm>
          <a:prstGeom prst="rect">
            <a:avLst/>
          </a:prstGeom>
          <a:solidFill>
            <a:srgbClr val="579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pezoid 11"/>
          <p:cNvSpPr/>
          <p:nvPr/>
        </p:nvSpPr>
        <p:spPr>
          <a:xfrm>
            <a:off x="1143000" y="2697480"/>
            <a:ext cx="3566160" cy="594360"/>
          </a:xfrm>
          <a:prstGeom prst="trapezoid">
            <a:avLst/>
          </a:prstGeom>
          <a:solidFill>
            <a:srgbClr val="20262A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1965960"/>
            <a:ext cx="22860" cy="7498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rop_158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703320"/>
            <a:ext cx="2057400" cy="12344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703320" y="3703320"/>
            <a:ext cx="2057400" cy="123444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17320"/>
            <a:ext cx="3657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5F2"/>
                </a:solidFill>
                <a:latin typeface="Cormorant Garamond"/>
              </a:rPr>
              <a:t>NEW AIR WAVE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764792"/>
            <a:ext cx="365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D4AF37"/>
                </a:solidFill>
                <a:latin typeface="Aptos"/>
              </a:rPr>
              <a:t>MARINE AIR CONDITIONING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01568"/>
            <a:ext cx="41605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9" b="0">
                <a:solidFill>
                  <a:srgbClr val="A6A6A6"/>
                </a:solidFill>
                <a:latin typeface="Aptos"/>
              </a:rPr>
              <a:t>Specialized marine climate engineering for environments affected by humidity, salt, vibration, limited space and demanding operating conditions.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42976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>
                <a:solidFill>
                  <a:srgbClr val="F5F5F2"/>
                </a:solidFill>
                <a:latin typeface="Aptos"/>
              </a:defRPr>
            </a:pPr>
            <a:r>
              <a:t>• Marine AC for boats and fishing vessels.</a:t>
            </a:r>
          </a:p>
          <a:p>
            <a:pPr>
              <a:spcAft>
                <a:spcPts val="400"/>
              </a:spcAft>
              <a:defRPr sz="750">
                <a:solidFill>
                  <a:srgbClr val="F5F5F2"/>
                </a:solidFill>
                <a:latin typeface="Aptos"/>
              </a:defRPr>
            </a:pPr>
            <a:r>
              <a:t>• Luxury climate control for yachts and superyachts.</a:t>
            </a:r>
          </a:p>
          <a:p>
            <a:pPr>
              <a:spcAft>
                <a:spcPts val="400"/>
              </a:spcAft>
              <a:defRPr sz="750">
                <a:solidFill>
                  <a:srgbClr val="F5F5F2"/>
                </a:solidFill>
                <a:latin typeface="Aptos"/>
              </a:defRPr>
            </a:pPr>
            <a:r>
              <a:t>• Commercial vessel and offshore HVAC.</a:t>
            </a:r>
          </a:p>
          <a:p>
            <a:pPr>
              <a:spcAft>
                <a:spcPts val="400"/>
              </a:spcAft>
              <a:defRPr sz="750">
                <a:solidFill>
                  <a:srgbClr val="F5F5F2"/>
                </a:solidFill>
                <a:latin typeface="Aptos"/>
              </a:defRPr>
            </a:pPr>
            <a:r>
              <a:t>• Marine water treatment and fire-fighting.</a:t>
            </a:r>
          </a:p>
          <a:p>
            <a:pPr>
              <a:spcAft>
                <a:spcPts val="400"/>
              </a:spcAft>
              <a:defRPr sz="750">
                <a:solidFill>
                  <a:srgbClr val="F5F5F2"/>
                </a:solidFill>
                <a:latin typeface="Aptos"/>
              </a:defRPr>
            </a:pPr>
            <a:r>
              <a:t>• Soundproof generator solutions.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234440"/>
            <a:ext cx="4846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5F2"/>
                </a:solidFill>
                <a:latin typeface="Cormorant Garamond"/>
              </a:rPr>
              <a:t>HVAC &amp; REFRIGERATION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572768"/>
            <a:ext cx="4846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D4AF37"/>
                </a:solidFill>
                <a:latin typeface="Aptos"/>
              </a:rPr>
              <a:t>PARTS • EQUIPMENT • DIRECT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20240"/>
            <a:ext cx="4800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9" b="0">
                <a:solidFill>
                  <a:srgbClr val="A6A6A6"/>
                </a:solidFill>
                <a:latin typeface="Aptos"/>
              </a:rPr>
              <a:t>A product-focused division connecting customers with HVAC equipment and refrigeration components through technical product information, product selection and direct sales support.</a:t>
            </a:r>
          </a:p>
        </p:txBody>
      </p:sp>
      <p:pic>
        <p:nvPicPr>
          <p:cNvPr id="23" name="Picture 22" descr="crop_3843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34640"/>
            <a:ext cx="1481328" cy="109728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400800" y="2834640"/>
            <a:ext cx="1481328" cy="109728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005072"/>
            <a:ext cx="148132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1">
                <a:solidFill>
                  <a:srgbClr val="D4AF37"/>
                </a:solidFill>
                <a:latin typeface="Aptos"/>
              </a:rPr>
              <a:t>HVAC EQUIPMENT</a:t>
            </a:r>
          </a:p>
        </p:txBody>
      </p:sp>
      <p:pic>
        <p:nvPicPr>
          <p:cNvPr id="26" name="Picture 25" descr="crop_8681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834640"/>
            <a:ext cx="1481328" cy="10972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8065008" y="2834640"/>
            <a:ext cx="1481328" cy="109728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5008" y="4005072"/>
            <a:ext cx="148132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1">
                <a:solidFill>
                  <a:srgbClr val="D4AF37"/>
                </a:solidFill>
                <a:latin typeface="Aptos"/>
              </a:rPr>
              <a:t>REFRIGERATION</a:t>
            </a:r>
          </a:p>
        </p:txBody>
      </p:sp>
      <p:pic>
        <p:nvPicPr>
          <p:cNvPr id="29" name="Picture 28" descr="crop_5014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216" y="2834640"/>
            <a:ext cx="1481328" cy="109728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9729216" y="2834640"/>
            <a:ext cx="1481328" cy="109728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29216" y="4005072"/>
            <a:ext cx="148132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1">
                <a:solidFill>
                  <a:srgbClr val="D4AF37"/>
                </a:solidFill>
                <a:latin typeface="Aptos"/>
              </a:rPr>
              <a:t>AIR HANDLERS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462272"/>
            <a:ext cx="1481328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4521708"/>
            <a:ext cx="140817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D4AF37"/>
                </a:solidFill>
                <a:latin typeface="Aptos"/>
              </a:rPr>
              <a:t>COMPRESSORS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5008" y="4462272"/>
            <a:ext cx="1481328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01583" y="4521708"/>
            <a:ext cx="140817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D4AF37"/>
                </a:solidFill>
                <a:latin typeface="Aptos"/>
              </a:rPr>
              <a:t>VALVES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29216" y="4462272"/>
            <a:ext cx="1481328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65792" y="4521708"/>
            <a:ext cx="140817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D4AF37"/>
                </a:solidFill>
                <a:latin typeface="Aptos"/>
              </a:rPr>
              <a:t>COILS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965192"/>
            <a:ext cx="1481328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37376" y="5024628"/>
            <a:ext cx="140817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D4AF37"/>
                </a:solidFill>
                <a:latin typeface="Aptos"/>
              </a:rPr>
              <a:t>EXPANSION DEVICES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65008" y="4965192"/>
            <a:ext cx="1481328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3" y="5024628"/>
            <a:ext cx="140817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D4AF37"/>
                </a:solidFill>
                <a:latin typeface="Aptos"/>
              </a:rPr>
              <a:t>SPARE PARTS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29216" y="4965192"/>
            <a:ext cx="1481328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65792" y="5024628"/>
            <a:ext cx="140817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D4AF37"/>
                </a:solidFill>
                <a:latin typeface="Aptos"/>
              </a:rPr>
              <a:t>INDUSTRIAL COMPONENTS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532120"/>
            <a:ext cx="877824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579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37376" y="5591556"/>
            <a:ext cx="80467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5791B0"/>
                </a:solidFill>
                <a:latin typeface="Aptos"/>
              </a:rPr>
              <a:t>DISCOVER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79208" y="5532120"/>
            <a:ext cx="877824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579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15783" y="5591556"/>
            <a:ext cx="80467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5791B0"/>
                </a:solidFill>
                <a:latin typeface="Aptos"/>
              </a:rPr>
              <a:t>COMPARE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57616" y="5532120"/>
            <a:ext cx="877824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579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94192" y="5591556"/>
            <a:ext cx="80467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5791B0"/>
                </a:solidFill>
                <a:latin typeface="Aptos"/>
              </a:rPr>
              <a:t>SELECT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36024" y="5532120"/>
            <a:ext cx="877824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579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72600" y="5591556"/>
            <a:ext cx="80467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5791B0"/>
                </a:solidFill>
                <a:latin typeface="Aptos"/>
              </a:rPr>
              <a:t>REQUEST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14432" y="5532120"/>
            <a:ext cx="877824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579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51008" y="5591556"/>
            <a:ext cx="80467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5791B0"/>
                </a:solidFill>
                <a:latin typeface="Aptos"/>
              </a:rPr>
              <a:t>SUPPORT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A6A6A6"/>
                </a:solidFill>
                <a:latin typeface="Aptos"/>
              </a:rPr>
              <a:t>NAELEE TECH  |  NEW AIR EGYPT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00" b="1">
                <a:solidFill>
                  <a:srgbClr val="D4AF37"/>
                </a:solidFill>
                <a:latin typeface="Aptos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1183112" cy="109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66928"/>
            <a:ext cx="8229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D4AF37"/>
                </a:solidFill>
                <a:latin typeface="Cormorant Garamond"/>
              </a:rPr>
              <a:t>WHY NAELEE TECH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97280"/>
            <a:ext cx="960120" cy="1645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41832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19" b="1">
                <a:solidFill>
                  <a:srgbClr val="F5F5F2"/>
                </a:solidFill>
                <a:latin typeface="Aptos"/>
              </a:rPr>
              <a:t>ENGINEERING EXCELLENCE. PREMIUM EXECUTION. INTEGRATED SOLUTIONS.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1508760"/>
            <a:ext cx="2468880" cy="2468880"/>
          </a:xfrm>
          <a:prstGeom prst="ellipse">
            <a:avLst/>
          </a:prstGeom>
          <a:solidFill>
            <a:srgbClr val="0F0F0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2768" y="1874519"/>
            <a:ext cx="749808" cy="749808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73552"/>
            <a:ext cx="2057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20" b="1">
                <a:solidFill>
                  <a:srgbClr val="D4AF37"/>
                </a:solidFill>
                <a:latin typeface="Aptos"/>
              </a:rPr>
              <a:t>EXECUTIVE PORTRAIT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24528"/>
            <a:ext cx="29718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5F5F2"/>
                </a:solidFill>
                <a:latin typeface="Aptos"/>
              </a:rPr>
              <a:t>ENG. ESSAM A.A.A. KAMEL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481328"/>
            <a:ext cx="3977639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2"/>
                </a:solidFill>
                <a:latin typeface="Cormorant Garamond"/>
              </a:rPr>
              <a:t>NAELEE TECH brings together engineering, climate technology, luxury design, marine solutions and HVAC products under one integrated professional platform.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697480"/>
            <a:ext cx="3566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Aptos"/>
              </a:rPr>
              <a:t>01  ENGINEERING EXCELLENCE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2980944"/>
            <a:ext cx="3383280" cy="731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3172968"/>
            <a:ext cx="3566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F5F2"/>
                </a:solidFill>
                <a:latin typeface="Aptos"/>
              </a:rPr>
              <a:t>02  INNOVATION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7872" y="3456432"/>
            <a:ext cx="3383280" cy="731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3648456"/>
            <a:ext cx="3566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F5F2"/>
                </a:solidFill>
                <a:latin typeface="Aptos"/>
              </a:rPr>
              <a:t>03  QUALITY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7872" y="3931920"/>
            <a:ext cx="3383280" cy="731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7872" y="4123944"/>
            <a:ext cx="3566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F5F2"/>
                </a:solidFill>
                <a:latin typeface="Aptos"/>
              </a:rPr>
              <a:t>04  TRUST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4407407"/>
            <a:ext cx="3383280" cy="731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4599432"/>
            <a:ext cx="35661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F5F2"/>
                </a:solidFill>
                <a:latin typeface="Aptos"/>
              </a:rPr>
              <a:t>05  SUSTAINABILITY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47872" y="4882896"/>
            <a:ext cx="3383280" cy="731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1444752"/>
            <a:ext cx="3200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Aptos"/>
              </a:rPr>
              <a:t>OUR SOLUTION ECOSYSTEM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1874519"/>
            <a:ext cx="1572768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54696" y="1933955"/>
            <a:ext cx="149961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D4AF37"/>
                </a:solidFill>
                <a:latin typeface="Aptos"/>
              </a:rPr>
              <a:t>LUXURY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1874519"/>
            <a:ext cx="1572768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37776" y="1933955"/>
            <a:ext cx="149961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D4AF37"/>
                </a:solidFill>
                <a:latin typeface="Aptos"/>
              </a:rPr>
              <a:t>MEP ENGINEERING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2514600"/>
            <a:ext cx="1572768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54696" y="2574036"/>
            <a:ext cx="149961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D4AF37"/>
                </a:solidFill>
                <a:latin typeface="Aptos"/>
              </a:rPr>
              <a:t>HVAC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2514600"/>
            <a:ext cx="1572768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37776" y="2574036"/>
            <a:ext cx="149961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D4AF37"/>
                </a:solidFill>
                <a:latin typeface="Aptos"/>
              </a:rPr>
              <a:t>MARINE CLIMATE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3154679"/>
            <a:ext cx="1572768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54696" y="3214115"/>
            <a:ext cx="149961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D4AF37"/>
                </a:solidFill>
                <a:latin typeface="Aptos"/>
              </a:rPr>
              <a:t>REFRIGERATION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3154679"/>
            <a:ext cx="1572768" cy="301752"/>
          </a:xfrm>
          <a:prstGeom prst="roundRect">
            <a:avLst/>
          </a:prstGeom>
          <a:solidFill>
            <a:srgbClr val="121212"/>
          </a:solidFill>
          <a:ln w="889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37776" y="3214115"/>
            <a:ext cx="149961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D4AF37"/>
                </a:solidFill>
                <a:latin typeface="Aptos"/>
              </a:rPr>
              <a:t>TECHNICAL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160520"/>
            <a:ext cx="35661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D98F"/>
                </a:solidFill>
                <a:latin typeface="Cormorant Garamond"/>
              </a:rPr>
              <a:t>FROM CONCEPT TO EXECUTION — ENGINEERED FOR PREMIUM ENVIRONMENTS.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26679" y="5074920"/>
            <a:ext cx="3749039" cy="914400"/>
          </a:xfrm>
          <a:prstGeom prst="roundRect">
            <a:avLst/>
          </a:prstGeom>
          <a:solidFill>
            <a:srgbClr val="0B0B0B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5230368"/>
            <a:ext cx="3291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5F5F2"/>
                </a:solidFill>
                <a:latin typeface="Aptos"/>
              </a:rPr>
              <a:t>www.naelee.tech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2127" y="5513832"/>
            <a:ext cx="345643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10" b="1">
                <a:solidFill>
                  <a:srgbClr val="D4AF37"/>
                </a:solidFill>
                <a:latin typeface="Aptos"/>
              </a:rPr>
              <a:t>002-0122-321-8448  •  info@naelee.tech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0688" y="6144768"/>
            <a:ext cx="3611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20" b="1">
                <a:solidFill>
                  <a:srgbClr val="F5D98F"/>
                </a:solidFill>
                <a:latin typeface="Aptos"/>
              </a:rPr>
              <a:t>DISCOVER OUR SOLUTIONS  |  www.naelee.tech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1">
                <a:solidFill>
                  <a:srgbClr val="A6A6A6"/>
                </a:solidFill>
                <a:latin typeface="Aptos"/>
              </a:rPr>
              <a:t>NAELEE TECH  |  NEW AIR EGYPT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510528"/>
            <a:ext cx="777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00" b="1">
                <a:solidFill>
                  <a:srgbClr val="D4AF37"/>
                </a:solidFill>
                <a:latin typeface="Aptos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